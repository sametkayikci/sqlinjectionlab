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5" r:id="rId12"/>
    <p:sldId id="266" r:id="rId13"/>
    <p:sldId id="267" r:id="rId14"/>
    <p:sldId id="268" r:id="rId15"/>
    <p:sldId id="272" r:id="rId16"/>
    <p:sldId id="269" r:id="rId17"/>
    <p:sldId id="270" r:id="rId18"/>
    <p:sldId id="271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0999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241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9178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232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4684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6931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3543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314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1588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302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3999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tr-TR"/>
              <a:t>Asıl metin stillerini düzenle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2750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9629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9228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1045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93167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8534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BF44413-7084-45AE-9A7A-FD6E5DBEA56B}" type="datetimeFigureOut">
              <a:rPr lang="tr-TR" smtClean="0"/>
              <a:t>1.12.2025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AEC17-C3AA-4806-96BA-53AD4306CF7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51969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hackerone.com/hacktivity/cwe_discovery?id=cwe-89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02371EDC-EF7D-493E-B925-4419073217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SQL Injection (SQLi)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8E009C6-1C82-4C65-9D1A-561D7D6F02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OWASP Top 10 - A03:2021 (Injection) Kapsamında Bir İnceleme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26330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3F6BE717-8BA7-45BF-9408-116A7233A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Neleri Konuşacağız?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A1084A9-45E1-4215-9940-2498F2403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SQL Injection (SQLi) Nedir?</a:t>
            </a:r>
          </a:p>
          <a:p>
            <a:r>
              <a:rPr lang="tr-TR" dirty="0"/>
              <a:t>Saldırı Mekanizması Nasıl Çalışır?</a:t>
            </a:r>
          </a:p>
          <a:p>
            <a:r>
              <a:rPr lang="tr-TR" dirty="0"/>
              <a:t>SQLi Türleri (</a:t>
            </a:r>
            <a:r>
              <a:rPr lang="tr-TR" dirty="0" err="1"/>
              <a:t>In-band</a:t>
            </a:r>
            <a:r>
              <a:rPr lang="tr-TR" dirty="0"/>
              <a:t>, </a:t>
            </a:r>
            <a:r>
              <a:rPr lang="tr-TR" dirty="0" err="1"/>
              <a:t>Blind</a:t>
            </a:r>
            <a:r>
              <a:rPr lang="tr-TR" dirty="0"/>
              <a:t>, </a:t>
            </a:r>
            <a:r>
              <a:rPr lang="tr-TR" dirty="0" err="1"/>
              <a:t>Out</a:t>
            </a:r>
            <a:r>
              <a:rPr lang="tr-TR" dirty="0"/>
              <a:t>-of-</a:t>
            </a:r>
            <a:r>
              <a:rPr lang="tr-TR" dirty="0" err="1"/>
              <a:t>band</a:t>
            </a:r>
            <a:r>
              <a:rPr lang="tr-TR" dirty="0"/>
              <a:t>).</a:t>
            </a:r>
          </a:p>
          <a:p>
            <a:r>
              <a:rPr lang="tr-TR" dirty="0"/>
              <a:t>İşletmeler İçin Riskler ve Etkiler.</a:t>
            </a:r>
          </a:p>
          <a:p>
            <a:r>
              <a:rPr lang="tr-TR" dirty="0"/>
              <a:t>Gerçek Hayat Senaryoları.</a:t>
            </a:r>
          </a:p>
          <a:p>
            <a:r>
              <a:rPr lang="tr-TR" dirty="0"/>
              <a:t>Kritik: Korunma Yöntemleri ve "</a:t>
            </a:r>
            <a:r>
              <a:rPr lang="tr-TR" dirty="0" err="1"/>
              <a:t>Defense</a:t>
            </a:r>
            <a:r>
              <a:rPr lang="tr-TR" dirty="0"/>
              <a:t> in </a:t>
            </a:r>
            <a:r>
              <a:rPr lang="tr-TR" dirty="0" err="1"/>
              <a:t>Depth".Test</a:t>
            </a:r>
            <a:r>
              <a:rPr lang="tr-TR" dirty="0"/>
              <a:t> ve Tespit Araçları.</a:t>
            </a:r>
          </a:p>
        </p:txBody>
      </p:sp>
    </p:spTree>
    <p:extLst>
      <p:ext uri="{BB962C8B-B14F-4D97-AF65-F5344CB8AC3E}">
        <p14:creationId xmlns:p14="http://schemas.microsoft.com/office/powerpoint/2010/main" val="2696709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0CB6856D-2966-41FD-A1EA-E49BE9674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SQL Injection (SQLi) Nedir?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30283FF-021A-4AB7-AFE7-6ED067080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/>
          <a:lstStyle/>
          <a:p>
            <a:r>
              <a:rPr lang="tr-TR" dirty="0"/>
              <a:t>Kullanıcının uygulama giriş noktalarından gönderdiği verilerin </a:t>
            </a:r>
            <a:r>
              <a:rPr lang="tr-TR" b="1" dirty="0"/>
              <a:t>kontrolsüz şekilde SQL sorgusuna dahil edilmesi</a:t>
            </a:r>
            <a:r>
              <a:rPr lang="tr-TR" dirty="0"/>
              <a:t> sonucu ortaya çıkan açıklık.</a:t>
            </a:r>
          </a:p>
          <a:p>
            <a:r>
              <a:rPr lang="tr-TR" dirty="0"/>
              <a:t>Saldırganın, uygulamanın </a:t>
            </a:r>
            <a:r>
              <a:rPr lang="tr-TR" dirty="0" err="1"/>
              <a:t>veritabanına</a:t>
            </a:r>
            <a:r>
              <a:rPr lang="tr-TR" dirty="0"/>
              <a:t> müdahale etmesini sağlar.</a:t>
            </a:r>
          </a:p>
          <a:p>
            <a:r>
              <a:rPr lang="tr-TR" dirty="0"/>
              <a:t>Temel Sorun: Uygulamanın, kullanıcıdan gelen veriyi "veri" olarak değil, "kod" olarak çalıştırmasıdır.</a:t>
            </a:r>
          </a:p>
          <a:p>
            <a:r>
              <a:rPr lang="tr-TR" dirty="0"/>
              <a:t>Hedef: </a:t>
            </a:r>
            <a:r>
              <a:rPr lang="tr-TR" b="1" dirty="0" err="1"/>
              <a:t>Veritabanını</a:t>
            </a:r>
            <a:r>
              <a:rPr lang="tr-TR" b="1" dirty="0"/>
              <a:t> manipüle etmek, veriyi okumak, değiştirmek, silmek veya yönetici ayrıcalığı kazanmak</a:t>
            </a:r>
            <a:r>
              <a:rPr lang="tr-TR" dirty="0"/>
              <a:t>.</a:t>
            </a:r>
          </a:p>
          <a:p>
            <a:r>
              <a:rPr lang="tr-TR" dirty="0"/>
              <a:t>OWASP Top 10 listesinde yıllardır en kritik risklerden biri (A03: Injection).</a:t>
            </a:r>
          </a:p>
        </p:txBody>
      </p:sp>
    </p:spTree>
    <p:extLst>
      <p:ext uri="{BB962C8B-B14F-4D97-AF65-F5344CB8AC3E}">
        <p14:creationId xmlns:p14="http://schemas.microsoft.com/office/powerpoint/2010/main" val="885971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QL injection | What is SQL injection? | Cloudflare">
            <a:extLst>
              <a:ext uri="{FF2B5EF4-FFF2-40B4-BE49-F238E27FC236}">
                <a16:creationId xmlns:a16="http://schemas.microsoft.com/office/drawing/2014/main" id="{684EB3E7-B664-4B1A-8639-BA060B2AC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89" y="1426004"/>
            <a:ext cx="10438411" cy="3599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671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AF92BDC-A5C8-43DF-86F3-4C361794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Saldırı Anatomisi - Nasıl Çalışır?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3C76C13-967F-410E-997E-549A71832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04" y="1336432"/>
            <a:ext cx="10017980" cy="4911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Örnek Kod (Zafiyetli):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query = "SELECT * FROM users WHERE username = '" + </a:t>
            </a:r>
            <a:r>
              <a:rPr lang="en-US" dirty="0" err="1">
                <a:latin typeface="Consolas" panose="020B0609020204030204" pitchFamily="49" charset="0"/>
              </a:rPr>
              <a:t>user_input</a:t>
            </a:r>
            <a:r>
              <a:rPr lang="en-US" dirty="0">
                <a:latin typeface="Consolas" panose="020B0609020204030204" pitchFamily="49" charset="0"/>
              </a:rPr>
              <a:t> + "'";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b="1" dirty="0">
                <a:latin typeface="Century Gothic (Başlıklar)"/>
              </a:rPr>
              <a:t>Saldırgan Girdisi: </a:t>
            </a:r>
            <a:r>
              <a:rPr lang="tr-TR" dirty="0" err="1">
                <a:latin typeface="Century Gothic (Başlıklar)"/>
              </a:rPr>
              <a:t>admin</a:t>
            </a:r>
            <a:r>
              <a:rPr lang="tr-TR" dirty="0">
                <a:latin typeface="Century Gothic (Başlıklar)"/>
              </a:rPr>
              <a:t>' OR '1'='1 </a:t>
            </a: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b="1" dirty="0">
                <a:latin typeface="Century Gothic (Başlıklar)"/>
              </a:rPr>
              <a:t>Oluşan Sorgu: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SELECT * FROM users WHERE username = 'admin' OR '1'='1'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b="1" dirty="0">
                <a:latin typeface="Century Gothic (Başlıklar)"/>
              </a:rPr>
              <a:t>Analiz: </a:t>
            </a:r>
            <a:r>
              <a:rPr lang="tr-TR" dirty="0">
                <a:latin typeface="Century Gothic (Başlıklar)"/>
              </a:rPr>
              <a:t>'1'='1' her zaman DOĞRU (TRUE) olduğu için </a:t>
            </a:r>
            <a:r>
              <a:rPr lang="tr-TR" dirty="0" err="1">
                <a:latin typeface="Century Gothic (Başlıklar)"/>
              </a:rPr>
              <a:t>veritabanı</a:t>
            </a:r>
            <a:r>
              <a:rPr lang="tr-TR" dirty="0">
                <a:latin typeface="Century Gothic (Başlıklar)"/>
              </a:rPr>
              <a:t> tablodaki tüm kayıtları veya ilk yönetici kaydını </a:t>
            </a:r>
            <a:r>
              <a:rPr lang="tr-TR" dirty="0" err="1">
                <a:latin typeface="Century Gothic (Başlıklar)"/>
              </a:rPr>
              <a:t>döndürür.Şifre</a:t>
            </a:r>
            <a:r>
              <a:rPr lang="tr-TR" dirty="0">
                <a:latin typeface="Century Gothic (Başlıklar)"/>
              </a:rPr>
              <a:t> kontrolü tamamen devre dışı bırakılır.</a:t>
            </a:r>
          </a:p>
        </p:txBody>
      </p:sp>
    </p:spTree>
    <p:extLst>
      <p:ext uri="{BB962C8B-B14F-4D97-AF65-F5344CB8AC3E}">
        <p14:creationId xmlns:p14="http://schemas.microsoft.com/office/powerpoint/2010/main" val="2634124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968147F-CEF3-460D-93BB-4ADAACB1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SQL Injection Türleri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6E346439-1487-4AB6-958C-9C8E794B01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8338" y="1825489"/>
            <a:ext cx="10402277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In-band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 SQLi (Klasik):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 Saldırgan sonucu aynı kanal üzerinden görür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Örn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: Web sayfasında hata mesajı veya veri tablosu).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Error-based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Veritabanı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 hata mesajlarından bilgi toplama.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Union-based</a:t>
            </a:r>
            <a:r>
              <a:rPr kumimoji="0" lang="tr-TR" altLang="tr-T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 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UNION operatörü ile başka tablolardan veri çekme.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Başlıklar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Inferential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 (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Blind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) SQLi: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 Uygulama veri döndürmez, ancak davranış değişikliği gösterir.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Boolean-based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 Sayfanın doğru/yanlış sorguya göre değişmesi.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Time-</a:t>
            </a:r>
            <a:r>
              <a:rPr kumimoji="0" lang="tr-TR" altLang="tr-T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based</a:t>
            </a:r>
            <a:r>
              <a:rPr kumimoji="0" lang="tr-TR" altLang="tr-T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Veritabanını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 uyutarak 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SLEEP() tepki süresinden çıkarım yapma.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Başlıklar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Out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-of-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band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 SQLi: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 Verinin,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veritabanı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aşlıklar)"/>
              </a:rPr>
              <a:t> sunucusu üzerinden dışarıya (DNS veya HTTP isteği ile) gönderilmesi (Nadir ama tehlikeli).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902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EA73B4C-49EC-43CF-8189-0DB83B578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Etki Analizi ve Zararlar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9384653-DFD9-416C-A4FA-DD14A089B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078" y="1524000"/>
            <a:ext cx="9502776" cy="4724399"/>
          </a:xfrm>
        </p:spPr>
        <p:txBody>
          <a:bodyPr>
            <a:normAutofit/>
          </a:bodyPr>
          <a:lstStyle/>
          <a:p>
            <a:r>
              <a:rPr lang="tr-TR" dirty="0"/>
              <a:t>Neden Önemsemeliyiz? (CIA Üçgeni)</a:t>
            </a:r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Gizlilik (</a:t>
            </a:r>
            <a:r>
              <a:rPr lang="tr-TR" dirty="0" err="1"/>
              <a:t>Confidentiality</a:t>
            </a:r>
            <a:r>
              <a:rPr lang="tr-TR" dirty="0"/>
              <a:t>) İhlali: Müşteri verileri, kredi kartları, kişisel bilgilerin çalınması.</a:t>
            </a:r>
          </a:p>
          <a:p>
            <a:r>
              <a:rPr lang="tr-TR" dirty="0"/>
              <a:t>Bütünlük (</a:t>
            </a:r>
            <a:r>
              <a:rPr lang="tr-TR" dirty="0" err="1"/>
              <a:t>Integrity</a:t>
            </a:r>
            <a:r>
              <a:rPr lang="tr-TR" dirty="0"/>
              <a:t>) Kaybı: Verilerin değiştirilmesi, bakiyelerin manipüle edilmesi, kayıtların silinmesi.</a:t>
            </a:r>
          </a:p>
          <a:p>
            <a:r>
              <a:rPr lang="tr-TR" dirty="0"/>
              <a:t>Erişilebilirlik (</a:t>
            </a:r>
            <a:r>
              <a:rPr lang="tr-TR" dirty="0" err="1"/>
              <a:t>Availability</a:t>
            </a:r>
            <a:r>
              <a:rPr lang="tr-TR" dirty="0"/>
              <a:t>) Sorunu: Tüm </a:t>
            </a:r>
            <a:r>
              <a:rPr lang="tr-TR" dirty="0" err="1"/>
              <a:t>veritabanının</a:t>
            </a:r>
            <a:r>
              <a:rPr lang="tr-TR" dirty="0"/>
              <a:t> silinmesi (DROP TABLE) veya sunucunun kilitlenmesi.</a:t>
            </a:r>
          </a:p>
          <a:p>
            <a:r>
              <a:rPr lang="tr-TR" dirty="0"/>
              <a:t>Yetki Yükseltme: Yönetici (</a:t>
            </a:r>
            <a:r>
              <a:rPr lang="tr-TR" dirty="0" err="1"/>
              <a:t>Admin</a:t>
            </a:r>
            <a:r>
              <a:rPr lang="tr-TR" dirty="0"/>
              <a:t>) haklarına erişim.</a:t>
            </a:r>
          </a:p>
          <a:p>
            <a:r>
              <a:rPr lang="tr-TR" dirty="0"/>
              <a:t>OS </a:t>
            </a:r>
            <a:r>
              <a:rPr lang="tr-TR" dirty="0" err="1"/>
              <a:t>Command</a:t>
            </a:r>
            <a:r>
              <a:rPr lang="tr-TR" dirty="0"/>
              <a:t> </a:t>
            </a:r>
            <a:r>
              <a:rPr lang="tr-TR" dirty="0" err="1"/>
              <a:t>Execution</a:t>
            </a:r>
            <a:r>
              <a:rPr lang="tr-TR" dirty="0"/>
              <a:t>: Bazı durumlarda (</a:t>
            </a:r>
            <a:r>
              <a:rPr lang="tr-TR" dirty="0" err="1"/>
              <a:t>örn</a:t>
            </a:r>
            <a:r>
              <a:rPr lang="tr-TR" dirty="0"/>
              <a:t>: </a:t>
            </a:r>
            <a:r>
              <a:rPr lang="tr-TR" dirty="0" err="1"/>
              <a:t>xp_cmdshell</a:t>
            </a:r>
            <a:r>
              <a:rPr lang="tr-TR" dirty="0"/>
              <a:t> </a:t>
            </a:r>
            <a:r>
              <a:rPr lang="tr-TR" dirty="0" err="1"/>
              <a:t>MSSQL'de</a:t>
            </a:r>
            <a:r>
              <a:rPr lang="tr-TR" dirty="0"/>
              <a:t>) işletim sistemi üzerinde komut çalıştırma.</a:t>
            </a:r>
          </a:p>
        </p:txBody>
      </p:sp>
    </p:spTree>
    <p:extLst>
      <p:ext uri="{BB962C8B-B14F-4D97-AF65-F5344CB8AC3E}">
        <p14:creationId xmlns:p14="http://schemas.microsoft.com/office/powerpoint/2010/main" val="3305829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BE86DE6-1B86-4208-B702-AD5BDC4F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Senaryo</a:t>
            </a:r>
            <a:r>
              <a:rPr lang="en-US" b="1" dirty="0"/>
              <a:t> 1 - </a:t>
            </a:r>
            <a:r>
              <a:rPr lang="en-US" b="1" dirty="0" err="1"/>
              <a:t>Yetkilendirme</a:t>
            </a:r>
            <a:r>
              <a:rPr lang="en-US" b="1" dirty="0"/>
              <a:t> </a:t>
            </a:r>
            <a:r>
              <a:rPr lang="en-US" b="1" dirty="0" err="1"/>
              <a:t>Atlatma</a:t>
            </a:r>
            <a:r>
              <a:rPr lang="en-US" b="1" dirty="0"/>
              <a:t> (Authentication Bypass)</a:t>
            </a:r>
            <a:br>
              <a:rPr lang="en-US" b="1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8E19AD9-E5DA-4559-A200-FC4DA6470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Şifresiz Giriş Yapmak</a:t>
            </a:r>
          </a:p>
          <a:p>
            <a:r>
              <a:rPr lang="tr-TR" dirty="0"/>
              <a:t>Senaryo: Bir e-ticaret sitesinin </a:t>
            </a:r>
            <a:r>
              <a:rPr lang="tr-TR" dirty="0" err="1"/>
              <a:t>login</a:t>
            </a:r>
            <a:r>
              <a:rPr lang="tr-TR" dirty="0"/>
              <a:t> formu.</a:t>
            </a:r>
          </a:p>
          <a:p>
            <a:r>
              <a:rPr lang="tr-TR" dirty="0"/>
              <a:t>Kullanıcı Adı: </a:t>
            </a:r>
            <a:r>
              <a:rPr lang="tr-TR" dirty="0" err="1"/>
              <a:t>admin</a:t>
            </a:r>
            <a:r>
              <a:rPr lang="tr-TR" dirty="0"/>
              <a:t>’ --</a:t>
            </a:r>
          </a:p>
          <a:p>
            <a:r>
              <a:rPr lang="tr-TR" dirty="0"/>
              <a:t>Şifre: (Boş veya rastgele)</a:t>
            </a:r>
          </a:p>
          <a:p>
            <a:r>
              <a:rPr lang="tr-TR" dirty="0"/>
              <a:t>Sonuç: </a:t>
            </a:r>
            <a:r>
              <a:rPr lang="tr-TR" dirty="0" err="1"/>
              <a:t>Veritabanı</a:t>
            </a:r>
            <a:r>
              <a:rPr lang="tr-TR" dirty="0"/>
              <a:t> yorum satırı (-- veya #) gördüğü anda şifre kontrolü kısmını görmezden gelir.</a:t>
            </a:r>
          </a:p>
          <a:p>
            <a:r>
              <a:rPr lang="tr-TR" dirty="0"/>
              <a:t>Saldırgan, şifreyi bilmeden yönetici paneline erişir.</a:t>
            </a:r>
          </a:p>
        </p:txBody>
      </p:sp>
    </p:spTree>
    <p:extLst>
      <p:ext uri="{BB962C8B-B14F-4D97-AF65-F5344CB8AC3E}">
        <p14:creationId xmlns:p14="http://schemas.microsoft.com/office/powerpoint/2010/main" val="1888844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SQL Injection Detection Based on Lightweight Multi-Head Self-Attention">
            <a:extLst>
              <a:ext uri="{FF2B5EF4-FFF2-40B4-BE49-F238E27FC236}">
                <a16:creationId xmlns:a16="http://schemas.microsoft.com/office/drawing/2014/main" id="{61F87FD2-C400-447B-9FFC-A6875AE3E3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592" y="734646"/>
            <a:ext cx="8430700" cy="518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383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A114C3D1-5DCC-4E1B-A4BC-D1E10B62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Senaryo 2 - Veri Sızdırma (UNION Attack)</a:t>
            </a:r>
            <a:br>
              <a:rPr lang="tr-TR" b="1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56DBEE6-D12F-4070-9757-2FBC6AA19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252442" cy="4195481"/>
          </a:xfrm>
        </p:spPr>
        <p:txBody>
          <a:bodyPr/>
          <a:lstStyle/>
          <a:p>
            <a:r>
              <a:rPr lang="tr-TR" dirty="0"/>
              <a:t>Tüm </a:t>
            </a:r>
            <a:r>
              <a:rPr lang="tr-TR" dirty="0" err="1"/>
              <a:t>Veritabanını</a:t>
            </a:r>
            <a:r>
              <a:rPr lang="tr-TR" dirty="0"/>
              <a:t> Çekmek</a:t>
            </a:r>
          </a:p>
          <a:p>
            <a:r>
              <a:rPr lang="tr-TR" dirty="0" err="1"/>
              <a:t>Senaryo:Ürün</a:t>
            </a:r>
            <a:r>
              <a:rPr lang="tr-TR" dirty="0"/>
              <a:t> arama sayfası: site.com/</a:t>
            </a:r>
            <a:r>
              <a:rPr lang="tr-TR" dirty="0" err="1"/>
              <a:t>products?id</a:t>
            </a:r>
            <a:r>
              <a:rPr lang="tr-TR" dirty="0"/>
              <a:t>=1</a:t>
            </a:r>
          </a:p>
          <a:p>
            <a:r>
              <a:rPr lang="tr-TR" dirty="0"/>
              <a:t>Saldırgan girdisi: 1 UNION SELECT </a:t>
            </a:r>
            <a:r>
              <a:rPr lang="tr-TR" dirty="0" err="1"/>
              <a:t>username</a:t>
            </a:r>
            <a:r>
              <a:rPr lang="tr-TR" dirty="0"/>
              <a:t>, </a:t>
            </a:r>
            <a:r>
              <a:rPr lang="tr-TR" dirty="0" err="1"/>
              <a:t>password</a:t>
            </a:r>
            <a:r>
              <a:rPr lang="tr-TR" dirty="0"/>
              <a:t> FROM </a:t>
            </a:r>
            <a:r>
              <a:rPr lang="tr-TR" dirty="0" err="1"/>
              <a:t>users</a:t>
            </a:r>
            <a:endParaRPr lang="tr-TR" dirty="0"/>
          </a:p>
          <a:p>
            <a:r>
              <a:rPr lang="tr-TR" dirty="0" err="1"/>
              <a:t>Sonuç:Ürün</a:t>
            </a:r>
            <a:r>
              <a:rPr lang="tr-TR" dirty="0"/>
              <a:t> bilgilerinin listelendiği alanda, </a:t>
            </a:r>
            <a:r>
              <a:rPr lang="tr-TR" dirty="0" err="1"/>
              <a:t>veritabanındaki</a:t>
            </a:r>
            <a:r>
              <a:rPr lang="tr-TR" dirty="0"/>
              <a:t> kullanıcı adları ve şifreler görüntülenir.</a:t>
            </a:r>
          </a:p>
          <a:p>
            <a:r>
              <a:rPr lang="tr-TR" dirty="0"/>
              <a:t>Bu yöntemle milyonlarca kullanıcının verisi saniyeler içinde çalınabilir.</a:t>
            </a:r>
          </a:p>
          <a:p>
            <a:r>
              <a:rPr lang="tr-TR" dirty="0" err="1"/>
              <a:t>Log</a:t>
            </a:r>
            <a:r>
              <a:rPr lang="tr-TR" dirty="0"/>
              <a:t> silme ➜ İz kaybettirme</a:t>
            </a:r>
          </a:p>
        </p:txBody>
      </p:sp>
    </p:spTree>
    <p:extLst>
      <p:ext uri="{BB962C8B-B14F-4D97-AF65-F5344CB8AC3E}">
        <p14:creationId xmlns:p14="http://schemas.microsoft.com/office/powerpoint/2010/main" val="354910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12403B6D-FC3F-4538-AD29-4B8C28505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Korunma Yöntemi 1 - Parametreli Sorgular (</a:t>
            </a:r>
            <a:r>
              <a:rPr lang="tr-TR" b="1" dirty="0" err="1"/>
              <a:t>Primary</a:t>
            </a:r>
            <a:r>
              <a:rPr lang="tr-TR" b="1" dirty="0"/>
              <a:t> </a:t>
            </a:r>
            <a:r>
              <a:rPr lang="tr-TR" b="1" dirty="0" err="1"/>
              <a:t>Defense</a:t>
            </a:r>
            <a:r>
              <a:rPr lang="tr-TR" b="1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DE13D67-29AD-4006-AD96-5C8ABF813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897" y="1974764"/>
            <a:ext cx="10987088" cy="4195481"/>
          </a:xfrm>
        </p:spPr>
        <p:txBody>
          <a:bodyPr/>
          <a:lstStyle/>
          <a:p>
            <a:r>
              <a:rPr lang="tr-TR" dirty="0"/>
              <a:t>Altın Kural: </a:t>
            </a:r>
            <a:r>
              <a:rPr lang="tr-TR" dirty="0" err="1"/>
              <a:t>Prepared</a:t>
            </a:r>
            <a:r>
              <a:rPr lang="tr-TR" dirty="0"/>
              <a:t> </a:t>
            </a:r>
            <a:r>
              <a:rPr lang="tr-TR" dirty="0" err="1"/>
              <a:t>Statements</a:t>
            </a:r>
            <a:endParaRPr lang="tr-TR" dirty="0"/>
          </a:p>
          <a:p>
            <a:r>
              <a:rPr lang="tr-TR" dirty="0" err="1"/>
              <a:t>Veritabanına</a:t>
            </a:r>
            <a:r>
              <a:rPr lang="tr-TR" dirty="0"/>
              <a:t> sorgu yapısını önceden öğretir, veriyi sonradan </a:t>
            </a:r>
            <a:r>
              <a:rPr lang="tr-TR" dirty="0" err="1"/>
              <a:t>göndeririz.Veri</a:t>
            </a:r>
            <a:r>
              <a:rPr lang="tr-TR" dirty="0"/>
              <a:t> asla kod olarak yorumlanmaz.</a:t>
            </a:r>
          </a:p>
          <a:p>
            <a:endParaRPr lang="tr-TR" dirty="0"/>
          </a:p>
          <a:p>
            <a:r>
              <a:rPr lang="en-US" dirty="0"/>
              <a:t>// GÜVENLİ KOD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SqlCommand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cmd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SqlCommand</a:t>
            </a:r>
            <a:r>
              <a:rPr lang="en-US" dirty="0">
                <a:latin typeface="Consolas" panose="020B0609020204030204" pitchFamily="49" charset="0"/>
              </a:rPr>
              <a:t>("SELECT * FROM users WHERE id = @id", conn);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cmd.Parameters.AddWithValue</a:t>
            </a:r>
            <a:r>
              <a:rPr lang="en-US" dirty="0">
                <a:latin typeface="Consolas" panose="020B0609020204030204" pitchFamily="49" charset="0"/>
              </a:rPr>
              <a:t>("@id", </a:t>
            </a:r>
            <a:r>
              <a:rPr lang="en-US" dirty="0" err="1">
                <a:latin typeface="Consolas" panose="020B0609020204030204" pitchFamily="49" charset="0"/>
              </a:rPr>
              <a:t>txtInput.Text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tr-TR" dirty="0"/>
              <a:t>Modern dillerin hepsinde bu özellik mevcuttur. Kullanmamak için hiçbir mazeret yoktur.</a:t>
            </a:r>
            <a:endParaRPr lang="tr-T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909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44AD72D9-E824-468A-B639-33A8B1DE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b="1" dirty="0"/>
              <a:t>Korunma Yöntemi 2 - Input Validation &amp; Sanitization</a:t>
            </a:r>
            <a:br>
              <a:rPr lang="fi-FI" b="1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A82DE4-D0F1-4495-8D40-B90C149CD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Derinlemesine Savunma (</a:t>
            </a:r>
            <a:r>
              <a:rPr lang="tr-TR" dirty="0" err="1"/>
              <a:t>Defense</a:t>
            </a:r>
            <a:r>
              <a:rPr lang="tr-TR" dirty="0"/>
              <a:t> in Depth)</a:t>
            </a:r>
          </a:p>
          <a:p>
            <a:r>
              <a:rPr lang="tr-TR" dirty="0" err="1"/>
              <a:t>Allow-list</a:t>
            </a:r>
            <a:r>
              <a:rPr lang="tr-TR" dirty="0"/>
              <a:t> (Beyaz Liste): Sadece izin verilen karakterleri kabul et (</a:t>
            </a:r>
            <a:r>
              <a:rPr lang="tr-TR" dirty="0" err="1"/>
              <a:t>Örn</a:t>
            </a:r>
            <a:r>
              <a:rPr lang="tr-TR" dirty="0"/>
              <a:t>: E-posta formatı, sadece rakam).</a:t>
            </a:r>
          </a:p>
          <a:p>
            <a:r>
              <a:rPr lang="tr-TR" dirty="0" err="1"/>
              <a:t>Type</a:t>
            </a:r>
            <a:r>
              <a:rPr lang="tr-TR" dirty="0"/>
              <a:t> </a:t>
            </a:r>
            <a:r>
              <a:rPr lang="tr-TR" dirty="0" err="1"/>
              <a:t>Checking</a:t>
            </a:r>
            <a:r>
              <a:rPr lang="tr-TR" dirty="0"/>
              <a:t>: Gelen veri </a:t>
            </a:r>
            <a:r>
              <a:rPr lang="tr-TR" dirty="0" err="1"/>
              <a:t>integer</a:t>
            </a:r>
            <a:r>
              <a:rPr lang="tr-TR" dirty="0"/>
              <a:t> bekleniyorsa, kod içinde tip kontrolü yap.</a:t>
            </a:r>
          </a:p>
          <a:p>
            <a:r>
              <a:rPr lang="tr-TR" dirty="0"/>
              <a:t>Önemli Not: Sadece temizleme (</a:t>
            </a:r>
            <a:r>
              <a:rPr lang="tr-TR" dirty="0" err="1"/>
              <a:t>Sanitization</a:t>
            </a:r>
            <a:r>
              <a:rPr lang="tr-TR" dirty="0"/>
              <a:t>) yetersizdir, muhakkak parametreli sorgu ile birlikte kullanılmalıdır.</a:t>
            </a:r>
          </a:p>
          <a:p>
            <a:r>
              <a:rPr lang="tr-TR" dirty="0" err="1"/>
              <a:t>Output</a:t>
            </a:r>
            <a:r>
              <a:rPr lang="tr-TR" dirty="0"/>
              <a:t> </a:t>
            </a:r>
            <a:r>
              <a:rPr lang="tr-TR" dirty="0" err="1"/>
              <a:t>Encoding</a:t>
            </a:r>
            <a:endParaRPr lang="tr-TR" dirty="0"/>
          </a:p>
          <a:p>
            <a:r>
              <a:rPr lang="tr-TR" dirty="0" err="1"/>
              <a:t>Stored</a:t>
            </a:r>
            <a:r>
              <a:rPr lang="tr-TR" dirty="0"/>
              <a:t> </a:t>
            </a:r>
            <a:r>
              <a:rPr lang="tr-TR" dirty="0" err="1"/>
              <a:t>Procedures</a:t>
            </a:r>
            <a:r>
              <a:rPr lang="tr-TR" dirty="0"/>
              <a:t> (Doğru kullanılırsa)</a:t>
            </a:r>
          </a:p>
        </p:txBody>
      </p:sp>
    </p:spTree>
    <p:extLst>
      <p:ext uri="{BB962C8B-B14F-4D97-AF65-F5344CB8AC3E}">
        <p14:creationId xmlns:p14="http://schemas.microsoft.com/office/powerpoint/2010/main" val="574643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0730378-B61D-420F-9BB9-FC1396F0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Korunma Yöntemi 3 - En Az Yetki Prensibi (</a:t>
            </a:r>
            <a:r>
              <a:rPr lang="tr-TR" b="1" dirty="0" err="1"/>
              <a:t>Least</a:t>
            </a:r>
            <a:r>
              <a:rPr lang="tr-TR" b="1" dirty="0"/>
              <a:t> </a:t>
            </a:r>
            <a:r>
              <a:rPr lang="tr-TR" b="1" dirty="0" err="1"/>
              <a:t>Privilege</a:t>
            </a:r>
            <a:r>
              <a:rPr lang="tr-TR" b="1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E1318B2-A7E4-421C-9945-C69AE7A3F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Veritabanı</a:t>
            </a:r>
            <a:r>
              <a:rPr lang="tr-TR" dirty="0"/>
              <a:t> Kullanıcı Yetkileri</a:t>
            </a:r>
          </a:p>
          <a:p>
            <a:r>
              <a:rPr lang="tr-TR" dirty="0"/>
              <a:t>Uygulamanın </a:t>
            </a:r>
            <a:r>
              <a:rPr lang="tr-TR" dirty="0" err="1"/>
              <a:t>veritabanına</a:t>
            </a:r>
            <a:r>
              <a:rPr lang="tr-TR" dirty="0"/>
              <a:t> bağlandığı kullanıcı (</a:t>
            </a:r>
            <a:r>
              <a:rPr lang="tr-TR" dirty="0" err="1"/>
              <a:t>db</a:t>
            </a:r>
            <a:r>
              <a:rPr lang="tr-TR" dirty="0"/>
              <a:t> </a:t>
            </a:r>
            <a:r>
              <a:rPr lang="tr-TR" dirty="0" err="1"/>
              <a:t>user</a:t>
            </a:r>
            <a:r>
              <a:rPr lang="tr-TR" dirty="0"/>
              <a:t>) "</a:t>
            </a:r>
            <a:r>
              <a:rPr lang="tr-TR" dirty="0" err="1"/>
              <a:t>sa</a:t>
            </a:r>
            <a:r>
              <a:rPr lang="tr-TR" dirty="0"/>
              <a:t>" veya "</a:t>
            </a:r>
            <a:r>
              <a:rPr lang="tr-TR" dirty="0" err="1"/>
              <a:t>root</a:t>
            </a:r>
            <a:r>
              <a:rPr lang="tr-TR" dirty="0"/>
              <a:t>" olmamalıdır.</a:t>
            </a:r>
          </a:p>
          <a:p>
            <a:r>
              <a:rPr lang="tr-TR" dirty="0"/>
              <a:t>Uygulama sadece okuma yapacaksa, o kullanıcıya DELETE veya DROP yetkisi verilmemelidir.</a:t>
            </a:r>
          </a:p>
          <a:p>
            <a:r>
              <a:rPr lang="tr-TR" dirty="0"/>
              <a:t>Gereksiz </a:t>
            </a:r>
            <a:r>
              <a:rPr lang="tr-TR" dirty="0" err="1"/>
              <a:t>Stored</a:t>
            </a:r>
            <a:r>
              <a:rPr lang="tr-TR" dirty="0"/>
              <a:t> </a:t>
            </a:r>
            <a:r>
              <a:rPr lang="tr-TR" dirty="0" err="1"/>
              <a:t>Procedure'ler</a:t>
            </a:r>
            <a:r>
              <a:rPr lang="tr-TR" dirty="0"/>
              <a:t> (</a:t>
            </a:r>
            <a:r>
              <a:rPr lang="tr-TR" dirty="0" err="1"/>
              <a:t>örn</a:t>
            </a:r>
            <a:r>
              <a:rPr lang="tr-TR" dirty="0"/>
              <a:t>: </a:t>
            </a:r>
            <a:r>
              <a:rPr lang="tr-TR" dirty="0" err="1"/>
              <a:t>xp_cmdshell</a:t>
            </a:r>
            <a:r>
              <a:rPr lang="tr-TR" dirty="0"/>
              <a:t>) kapatılmalıdır.</a:t>
            </a:r>
          </a:p>
          <a:p>
            <a:r>
              <a:rPr lang="tr-TR" dirty="0"/>
              <a:t>Ayrı hesaplar: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/>
              <a:t>App</a:t>
            </a:r>
            <a:r>
              <a:rPr lang="tr-TR" dirty="0"/>
              <a:t> </a:t>
            </a:r>
            <a:r>
              <a:rPr lang="tr-TR" dirty="0" err="1"/>
              <a:t>user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 err="1"/>
              <a:t>Admin</a:t>
            </a:r>
            <a:r>
              <a:rPr lang="tr-TR" dirty="0"/>
              <a:t> </a:t>
            </a:r>
            <a:r>
              <a:rPr lang="tr-TR" dirty="0" err="1"/>
              <a:t>user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Migration </a:t>
            </a:r>
            <a:r>
              <a:rPr lang="tr-TR" dirty="0" err="1"/>
              <a:t>user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06728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0546EFB1-85FB-4FF4-9B9E-648E7754C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Modern Teknolojiler ve WAF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5164039-F132-4D1F-ACD2-1000659C0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552734"/>
            <a:ext cx="8946541" cy="4195481"/>
          </a:xfrm>
        </p:spPr>
        <p:txBody>
          <a:bodyPr/>
          <a:lstStyle/>
          <a:p>
            <a:r>
              <a:rPr lang="tr-TR" dirty="0"/>
              <a:t>ORM Kullanımı ve Güvenlik Duvarları (</a:t>
            </a:r>
            <a:r>
              <a:rPr lang="tr-TR" dirty="0" err="1"/>
              <a:t>Cloudflare</a:t>
            </a:r>
            <a:r>
              <a:rPr lang="tr-TR" dirty="0"/>
              <a:t> / </a:t>
            </a:r>
            <a:r>
              <a:rPr lang="tr-TR" dirty="0" err="1"/>
              <a:t>FortiWeb</a:t>
            </a:r>
            <a:r>
              <a:rPr lang="tr-TR" dirty="0"/>
              <a:t> / </a:t>
            </a:r>
            <a:r>
              <a:rPr lang="tr-TR" dirty="0" err="1"/>
              <a:t>ModSecurity</a:t>
            </a:r>
            <a:r>
              <a:rPr lang="tr-TR" dirty="0"/>
              <a:t> kuralları)</a:t>
            </a:r>
          </a:p>
          <a:p>
            <a:r>
              <a:rPr lang="tr-TR" dirty="0"/>
              <a:t>ORM (Object </a:t>
            </a:r>
            <a:r>
              <a:rPr lang="tr-TR" dirty="0" err="1"/>
              <a:t>Relational</a:t>
            </a:r>
            <a:r>
              <a:rPr lang="tr-TR" dirty="0"/>
              <a:t> </a:t>
            </a:r>
            <a:r>
              <a:rPr lang="tr-TR" dirty="0" err="1"/>
              <a:t>Mapping</a:t>
            </a:r>
            <a:r>
              <a:rPr lang="tr-TR" dirty="0"/>
              <a:t>): </a:t>
            </a:r>
            <a:r>
              <a:rPr lang="tr-TR" dirty="0" err="1"/>
              <a:t>Dapper</a:t>
            </a:r>
            <a:r>
              <a:rPr lang="tr-TR" dirty="0"/>
              <a:t>, </a:t>
            </a:r>
            <a:r>
              <a:rPr lang="tr-TR" dirty="0" err="1"/>
              <a:t>Entity</a:t>
            </a:r>
            <a:r>
              <a:rPr lang="tr-TR" dirty="0"/>
              <a:t> Framework, </a:t>
            </a:r>
            <a:r>
              <a:rPr lang="tr-TR" dirty="0" err="1"/>
              <a:t>Hibernate</a:t>
            </a:r>
            <a:r>
              <a:rPr lang="tr-TR" dirty="0"/>
              <a:t> gibi araçlar doğru kullanıldığında SQLi riskini otomatik olarak minimize eder.</a:t>
            </a:r>
          </a:p>
          <a:p>
            <a:r>
              <a:rPr lang="tr-TR" dirty="0"/>
              <a:t>WAF (Web Application Firewall): Bilinen SQLi saldırı kalıplarını (imzalarını) sunucuya ulaşmadan engeller. (Ancak kök çözüm değildir, yama niteliğindedir).</a:t>
            </a:r>
          </a:p>
          <a:p>
            <a:r>
              <a:rPr lang="tr-TR" dirty="0"/>
              <a:t>Rate </a:t>
            </a:r>
            <a:r>
              <a:rPr lang="tr-TR" dirty="0" err="1"/>
              <a:t>limiting</a:t>
            </a:r>
            <a:endParaRPr lang="tr-TR" dirty="0"/>
          </a:p>
          <a:p>
            <a:r>
              <a:rPr lang="tr-TR" dirty="0"/>
              <a:t>Anomali tespiti (</a:t>
            </a:r>
            <a:r>
              <a:rPr lang="tr-TR" dirty="0" err="1"/>
              <a:t>Geo-blocking</a:t>
            </a:r>
            <a:r>
              <a:rPr lang="tr-TR" dirty="0"/>
              <a:t>)</a:t>
            </a:r>
          </a:p>
          <a:p>
            <a:r>
              <a:rPr lang="tr-TR" dirty="0"/>
              <a:t>Düzenli test + sürekli iyileştirme şart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78955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AE0B9AAB-2B2B-45A4-A1C5-6539A565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ORM Kullanırken Dikkat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A675B01-C686-4F7D-8FDD-05892D780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004" y="1853248"/>
            <a:ext cx="10494719" cy="4195481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EF </a:t>
            </a:r>
            <a:r>
              <a:rPr lang="tr-TR" b="1" dirty="0" err="1"/>
              <a:t>Core’da</a:t>
            </a:r>
            <a:r>
              <a:rPr lang="tr-TR" b="1" dirty="0"/>
              <a:t> hâlâ SQL Injection oluşabilir: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b="1" dirty="0"/>
              <a:t>Tehlikeli kullanım: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db.Users.FromSqlRaw</a:t>
            </a:r>
            <a:r>
              <a:rPr lang="en-US" dirty="0">
                <a:latin typeface="Consolas" panose="020B0609020204030204" pitchFamily="49" charset="0"/>
              </a:rPr>
              <a:t>($"SELECT * FROM Users WHERE Name = '{name}'");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b="1" dirty="0"/>
              <a:t>Güvenli kullanım: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db.Users.FromSqlInterpolated</a:t>
            </a:r>
            <a:r>
              <a:rPr lang="en-US" dirty="0">
                <a:latin typeface="Consolas" panose="020B0609020204030204" pitchFamily="49" charset="0"/>
              </a:rPr>
              <a:t>($"SELECT * FROM Users WHERE Name = {name}");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76541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0A7DE944-9775-42AC-BF8E-6FD78C489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Test ve Tespit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24E1640-4F97-4914-85EA-B829D2581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16" y="1375508"/>
            <a:ext cx="9330838" cy="4872891"/>
          </a:xfrm>
        </p:spPr>
        <p:txBody>
          <a:bodyPr>
            <a:normAutofit lnSpcReduction="10000"/>
          </a:bodyPr>
          <a:lstStyle/>
          <a:p>
            <a:r>
              <a:rPr lang="tr-TR" sz="2800" dirty="0"/>
              <a:t>Zafiyeti Nasıl Buluruz?</a:t>
            </a:r>
          </a:p>
          <a:p>
            <a:r>
              <a:rPr lang="tr-TR" dirty="0"/>
              <a:t>SAST (</a:t>
            </a:r>
            <a:r>
              <a:rPr lang="tr-TR" dirty="0" err="1"/>
              <a:t>Static</a:t>
            </a:r>
            <a:r>
              <a:rPr lang="tr-TR" dirty="0"/>
              <a:t> Application Security </a:t>
            </a:r>
            <a:r>
              <a:rPr lang="tr-TR" dirty="0" err="1"/>
              <a:t>Testing</a:t>
            </a:r>
            <a:r>
              <a:rPr lang="tr-TR" dirty="0"/>
              <a:t>): Kaynak kod analizi araçları (</a:t>
            </a:r>
            <a:r>
              <a:rPr lang="tr-TR" dirty="0" err="1"/>
              <a:t>Örn</a:t>
            </a:r>
            <a:r>
              <a:rPr lang="tr-TR" dirty="0"/>
              <a:t>: </a:t>
            </a:r>
            <a:r>
              <a:rPr lang="tr-TR" dirty="0" err="1"/>
              <a:t>SonarQube</a:t>
            </a:r>
            <a:r>
              <a:rPr lang="tr-TR" dirty="0"/>
              <a:t>, </a:t>
            </a:r>
            <a:r>
              <a:rPr lang="tr-TR" dirty="0" err="1"/>
              <a:t>Fortify</a:t>
            </a:r>
            <a:r>
              <a:rPr lang="tr-TR" dirty="0"/>
              <a:t>).</a:t>
            </a:r>
          </a:p>
          <a:p>
            <a:r>
              <a:rPr lang="tr-TR" dirty="0"/>
              <a:t>DAST (</a:t>
            </a:r>
            <a:r>
              <a:rPr lang="tr-TR" dirty="0" err="1"/>
              <a:t>Dynamic</a:t>
            </a:r>
            <a:r>
              <a:rPr lang="tr-TR" dirty="0"/>
              <a:t> Application Security </a:t>
            </a:r>
            <a:r>
              <a:rPr lang="tr-TR" dirty="0" err="1"/>
              <a:t>Testing</a:t>
            </a:r>
            <a:r>
              <a:rPr lang="tr-TR" dirty="0"/>
              <a:t>): Çalışan uygulamaya dışarıdan test (</a:t>
            </a:r>
            <a:r>
              <a:rPr lang="tr-TR" dirty="0" err="1"/>
              <a:t>Örn</a:t>
            </a:r>
            <a:r>
              <a:rPr lang="tr-TR" dirty="0"/>
              <a:t>: OWASP ZAP, </a:t>
            </a:r>
            <a:r>
              <a:rPr lang="tr-TR" dirty="0" err="1"/>
              <a:t>Burp</a:t>
            </a:r>
            <a:r>
              <a:rPr lang="tr-TR" dirty="0"/>
              <a:t> Suite).</a:t>
            </a:r>
          </a:p>
          <a:p>
            <a:r>
              <a:rPr lang="tr-TR" dirty="0" err="1"/>
              <a:t>Penetrasyon</a:t>
            </a:r>
            <a:r>
              <a:rPr lang="tr-TR" dirty="0"/>
              <a:t> Testleri: Manuel doğrulama ve mantıksal hataların tespiti.</a:t>
            </a:r>
          </a:p>
          <a:p>
            <a:r>
              <a:rPr lang="tr-TR" dirty="0" err="1"/>
              <a:t>SQLMap</a:t>
            </a:r>
            <a:r>
              <a:rPr lang="tr-TR" dirty="0"/>
              <a:t>: </a:t>
            </a:r>
            <a:r>
              <a:rPr lang="tr-TR" dirty="0" err="1"/>
              <a:t>Otomatize</a:t>
            </a:r>
            <a:r>
              <a:rPr lang="tr-TR" dirty="0"/>
              <a:t> sömürü aracı (Saldırganların kullandığı aracı savunma testi için kullanmak).</a:t>
            </a:r>
          </a:p>
          <a:p>
            <a:r>
              <a:rPr lang="tr-TR" dirty="0"/>
              <a:t>Uzun yanıt süreleri</a:t>
            </a:r>
          </a:p>
          <a:p>
            <a:r>
              <a:rPr lang="tr-TR" dirty="0"/>
              <a:t>Kod </a:t>
            </a:r>
            <a:r>
              <a:rPr lang="tr-TR" dirty="0" err="1"/>
              <a:t>review</a:t>
            </a:r>
            <a:r>
              <a:rPr lang="tr-TR" dirty="0"/>
              <a:t> </a:t>
            </a:r>
            <a:r>
              <a:rPr lang="tr-TR" dirty="0" err="1"/>
              <a:t>checklist</a:t>
            </a:r>
            <a:endParaRPr lang="tr-TR" dirty="0"/>
          </a:p>
          <a:p>
            <a:r>
              <a:rPr lang="tr-TR" dirty="0" err="1"/>
              <a:t>Secure</a:t>
            </a:r>
            <a:r>
              <a:rPr lang="tr-TR" dirty="0"/>
              <a:t> SDLC</a:t>
            </a:r>
          </a:p>
          <a:p>
            <a:r>
              <a:rPr lang="tr-TR" dirty="0" err="1"/>
              <a:t>Log</a:t>
            </a:r>
            <a:r>
              <a:rPr lang="tr-TR" dirty="0"/>
              <a:t> analizleri ve Anormal trafik </a:t>
            </a:r>
            <a:r>
              <a:rPr lang="tr-TR" dirty="0" err="1"/>
              <a:t>pattern’ları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03097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01E4B45B-4015-477C-BF25-0826C9D66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Özet ve Kapanış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9D2F58D-665A-4250-9988-456330031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Kullanıcı girdisine ASLA güvenme.</a:t>
            </a:r>
          </a:p>
          <a:p>
            <a:r>
              <a:rPr lang="tr-TR" dirty="0"/>
              <a:t>Her zaman Parametreli Sorgu (</a:t>
            </a:r>
            <a:r>
              <a:rPr lang="tr-TR" dirty="0" err="1"/>
              <a:t>Prepared</a:t>
            </a:r>
            <a:r>
              <a:rPr lang="tr-TR" dirty="0"/>
              <a:t> </a:t>
            </a:r>
            <a:r>
              <a:rPr lang="tr-TR" dirty="0" err="1"/>
              <a:t>Statements</a:t>
            </a:r>
            <a:r>
              <a:rPr lang="tr-TR" dirty="0"/>
              <a:t>) kullan.</a:t>
            </a:r>
          </a:p>
          <a:p>
            <a:r>
              <a:rPr lang="tr-TR" dirty="0"/>
              <a:t>Hata mesajlarını kullanıcıya detaylı gösterme (Bilgi ifşası).</a:t>
            </a:r>
          </a:p>
          <a:p>
            <a:r>
              <a:rPr lang="tr-TR" dirty="0"/>
              <a:t>Düzenli kod analizi ve sızma testi yaptır.</a:t>
            </a:r>
          </a:p>
          <a:p>
            <a:r>
              <a:rPr lang="tr-TR" dirty="0" err="1"/>
              <a:t>Developer’lara</a:t>
            </a:r>
            <a:r>
              <a:rPr lang="tr-TR" dirty="0"/>
              <a:t> düzenli OWASP Top 10 eğitimi</a:t>
            </a:r>
          </a:p>
          <a:p>
            <a:r>
              <a:rPr lang="tr-TR" dirty="0"/>
              <a:t>Slogan: "Veriyi veride, kodu kodda tutun."</a:t>
            </a:r>
          </a:p>
        </p:txBody>
      </p:sp>
    </p:spTree>
    <p:extLst>
      <p:ext uri="{BB962C8B-B14F-4D97-AF65-F5344CB8AC3E}">
        <p14:creationId xmlns:p14="http://schemas.microsoft.com/office/powerpoint/2010/main" val="1167090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130181A-FC32-4F04-AD56-D61C8058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Eğitim İçin Kaynaklar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C1C873-1075-4F3D-8AD2-1C0720D0C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OWASP </a:t>
            </a:r>
            <a:r>
              <a:rPr lang="tr-TR" dirty="0" err="1"/>
              <a:t>Cheat</a:t>
            </a:r>
            <a:r>
              <a:rPr lang="tr-TR" dirty="0"/>
              <a:t> </a:t>
            </a:r>
            <a:r>
              <a:rPr lang="tr-TR" dirty="0" err="1"/>
              <a:t>Sheet</a:t>
            </a:r>
            <a:r>
              <a:rPr lang="tr-TR" dirty="0"/>
              <a:t> Series</a:t>
            </a:r>
          </a:p>
          <a:p>
            <a:r>
              <a:rPr lang="tr-TR" dirty="0"/>
              <a:t>OWASP Top 10 2021–2025 </a:t>
            </a:r>
            <a:r>
              <a:rPr lang="tr-TR" dirty="0" err="1"/>
              <a:t>Draft</a:t>
            </a:r>
            <a:endParaRPr lang="tr-TR" dirty="0"/>
          </a:p>
          <a:p>
            <a:r>
              <a:rPr lang="tr-TR" dirty="0">
                <a:hlinkClick r:id="rId2"/>
              </a:rPr>
              <a:t>MITRE CWE-89</a:t>
            </a:r>
            <a:endParaRPr lang="tr-TR" dirty="0"/>
          </a:p>
          <a:p>
            <a:r>
              <a:rPr lang="tr-TR" dirty="0" err="1"/>
              <a:t>PortSwigger</a:t>
            </a:r>
            <a:r>
              <a:rPr lang="tr-TR" dirty="0"/>
              <a:t> Web Security Academy</a:t>
            </a:r>
          </a:p>
          <a:p>
            <a:r>
              <a:rPr lang="tr-TR" dirty="0" err="1"/>
              <a:t>HackerOne</a:t>
            </a:r>
            <a:r>
              <a:rPr lang="tr-TR" dirty="0"/>
              <a:t> Yazılım Güvenliği Kılavuzları</a:t>
            </a:r>
          </a:p>
        </p:txBody>
      </p:sp>
    </p:spTree>
    <p:extLst>
      <p:ext uri="{BB962C8B-B14F-4D97-AF65-F5344CB8AC3E}">
        <p14:creationId xmlns:p14="http://schemas.microsoft.com/office/powerpoint/2010/main" val="1046692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E6B70C6-F639-4A59-8169-ABBC48F5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3822297"/>
          </a:xfrm>
        </p:spPr>
        <p:txBody>
          <a:bodyPr/>
          <a:lstStyle/>
          <a:p>
            <a:pPr algn="ctr"/>
            <a:r>
              <a:rPr lang="tr-TR" sz="6000" b="1" dirty="0"/>
              <a:t>Dinlediğiniz için teşekkür ederim.</a:t>
            </a:r>
            <a:br>
              <a:rPr lang="tr-TR" sz="6000" b="1" dirty="0"/>
            </a:br>
            <a:br>
              <a:rPr lang="tr-TR" sz="6000" b="1" dirty="0"/>
            </a:br>
            <a:r>
              <a:rPr lang="tr-TR" sz="6000" b="1" dirty="0"/>
              <a:t>SAMET KAYIKCI</a:t>
            </a:r>
            <a:br>
              <a:rPr lang="tr-TR" b="1" dirty="0"/>
            </a:br>
            <a:br>
              <a:rPr lang="tr-TR" b="1" dirty="0"/>
            </a:b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33006349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yon">
  <a:themeElements>
    <a:clrScheme name="İy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İy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57</TotalTime>
  <Words>1061</Words>
  <Application>Microsoft Office PowerPoint</Application>
  <PresentationFormat>Geniş ekran</PresentationFormat>
  <Paragraphs>121</Paragraphs>
  <Slides>19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5" baseType="lpstr">
      <vt:lpstr>Arial</vt:lpstr>
      <vt:lpstr>Century Gothic</vt:lpstr>
      <vt:lpstr>Century Gothic (Başlıklar)</vt:lpstr>
      <vt:lpstr>Consolas</vt:lpstr>
      <vt:lpstr>Wingdings 3</vt:lpstr>
      <vt:lpstr>İyon</vt:lpstr>
      <vt:lpstr>SQL Injection (SQLi)</vt:lpstr>
      <vt:lpstr>Neleri Konuşacağız?</vt:lpstr>
      <vt:lpstr>SQL Injection (SQLi) Nedir?</vt:lpstr>
      <vt:lpstr>PowerPoint Sunusu</vt:lpstr>
      <vt:lpstr>Saldırı Anatomisi - Nasıl Çalışır?</vt:lpstr>
      <vt:lpstr>SQL Injection Türleri</vt:lpstr>
      <vt:lpstr>Etki Analizi ve Zararlar</vt:lpstr>
      <vt:lpstr>Senaryo 1 - Yetkilendirme Atlatma (Authentication Bypass) </vt:lpstr>
      <vt:lpstr>PowerPoint Sunusu</vt:lpstr>
      <vt:lpstr>Senaryo 2 - Veri Sızdırma (UNION Attack) </vt:lpstr>
      <vt:lpstr>Korunma Yöntemi 1 - Parametreli Sorgular (Primary Defense)</vt:lpstr>
      <vt:lpstr>Korunma Yöntemi 2 - Input Validation &amp; Sanitization </vt:lpstr>
      <vt:lpstr>Korunma Yöntemi 3 - En Az Yetki Prensibi (Least Privilege)</vt:lpstr>
      <vt:lpstr>Modern Teknolojiler ve WAF</vt:lpstr>
      <vt:lpstr>ORM Kullanırken Dikkat</vt:lpstr>
      <vt:lpstr>Test ve Tespit</vt:lpstr>
      <vt:lpstr>Özet ve Kapanış</vt:lpstr>
      <vt:lpstr>Eğitim İçin Kaynaklar</vt:lpstr>
      <vt:lpstr>Dinlediğiniz için teşekkür ederim.  SAMET KAYIKCI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Injection (SQLi)</dc:title>
  <dc:creator>Samet KAYIKCI</dc:creator>
  <cp:lastModifiedBy>Samet KAYIKCI</cp:lastModifiedBy>
  <cp:revision>8</cp:revision>
  <dcterms:created xsi:type="dcterms:W3CDTF">2025-12-01T09:47:57Z</dcterms:created>
  <dcterms:modified xsi:type="dcterms:W3CDTF">2025-12-01T10:45:17Z</dcterms:modified>
</cp:coreProperties>
</file>